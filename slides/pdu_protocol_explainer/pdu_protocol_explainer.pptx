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the protocol as a safety boundary. The point is not just data exchange; it is the contract that allows software to command power hardware without accidental toggles.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robustness matters before explaining how it works. The old path could not reliably distinguish a clean command from a damaged stream. The new path makes each command a checked transaction.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SOF is start of frame. Length prevents guessing how many bytes to read. CRC rejects corrupted frames before any hardware is touched.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safety story in one slide. The parser rejects noise. The handler rejects bad length and invalid output IDs. Only then does the firmware touch pins.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apologizing for small scope. The whole point is a stable protocol core. We can add more opcodes later without weakening the transport.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12V as the example. The host should not need to know that the 12V rail depends on another 5V enable. That kind of sequencing belongs inside the PDU.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SOH does not need every sensor on day one. It needs a compact packet that proves the PDU is alive, outputs are known, and reset history is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main test philosophy. The safest parser is not the one that handles happy paths; it is the one that reliably refuses malformed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 starting with tests that do not require hardware: build frames, corrupt frames, verify responses. Then use bench UART, then FlatSat current/rail readback.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practical tests a controller-side repo can automate quickly. They establish framing, command acknowledgement, and health visibility.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the generic-enough question. The frame is generic. The current payload model is PDU-specific. Future missions should add an object model and capabilities without changing the base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future direction slide. More telemetry is useful, but it should not push unsafe low-level pin choreography up into the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migration plan explicit. We are not trying to finish every future mission feature now. We are freezing the reliable base and adding discoverable extensions.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principle. Trust comes from bounded frames, CRC, explicit status, sequence ACK, and a scope that students can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6565392"/>
            <a:ext cx="2834640" cy="73152"/>
          </a:xfrm>
          <a:prstGeom prst="rect">
            <a:avLst/>
          </a:prstGeom>
          <a:solidFill>
            <a:srgbClr val="6BE49B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6928" y="219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D7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OPENING PROMISE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EAF2F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PDU protocol is the contract that lets software safely touch power.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224028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93A9B7"/>
                </a:solidFill>
              </a:rPr>
              <a:t>Current framed protocol, test plan, and future mission-ready direction.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2834640" cy="914400"/>
          </a:xfrm>
          <a:prstGeom prst="rect">
            <a:avLst/>
          </a:prstGeom>
          <a:solidFill>
            <a:srgbClr val="143C47"/>
          </a:solidFill>
          <a:ln w="12700">
            <a:solidFill>
              <a:srgbClr val="24586B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Teensy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low-level owner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11880" y="4526280"/>
            <a:ext cx="1965960" cy="0"/>
          </a:xfrm>
          <a:prstGeom prst="line">
            <a:avLst/>
          </a:prstGeom>
          <a:noFill/>
          <a:ln w="25400">
            <a:solidFill>
              <a:srgbClr val="6BE49B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715000" y="3840480"/>
            <a:ext cx="2194560" cy="1371600"/>
          </a:xfrm>
          <a:prstGeom prst="rect">
            <a:avLst/>
          </a:prstGeom>
          <a:solidFill>
            <a:srgbClr val="174B3B"/>
          </a:solidFill>
          <a:ln w="12700">
            <a:solidFill>
              <a:srgbClr val="6BE49B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PDU MCU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power + safety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46720" y="4526280"/>
            <a:ext cx="1691640" cy="0"/>
          </a:xfrm>
          <a:prstGeom prst="line">
            <a:avLst/>
          </a:prstGeom>
          <a:noFill/>
          <a:ln w="25400">
            <a:solidFill>
              <a:srgbClr val="6BE49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829800" y="4069080"/>
            <a:ext cx="1783080" cy="914400"/>
          </a:xfrm>
          <a:prstGeom prst="rect">
            <a:avLst/>
          </a:prstGeom>
          <a:solidFill>
            <a:srgbClr val="143C47"/>
          </a:solidFill>
          <a:ln w="12700">
            <a:solidFill>
              <a:srgbClr val="24586B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Rails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SOH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921240" y="64556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4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PDU protocol | 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6565392"/>
            <a:ext cx="2834640" cy="73152"/>
          </a:xfrm>
          <a:prstGeom prst="rect">
            <a:avLst/>
          </a:prstGeom>
          <a:solidFill>
            <a:srgbClr val="FF6B6B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6928" y="219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D7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WHY CHANGE IT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corrupted byte should not be able to become a power command.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4206240" cy="2788920"/>
          </a:xfrm>
          <a:prstGeom prst="rect">
            <a:avLst/>
          </a:prstGeom>
          <a:solidFill>
            <a:srgbClr val="3A1C22"/>
          </a:solidFill>
          <a:ln w="12700">
            <a:solidFill>
              <a:srgbClr val="FF6B6B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AF2F8"/>
                </a:solidFill>
              </a:rPr>
              <a:t>Old style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EAF2F8"/>
                </a:solidFill>
              </a:rPr>
              <a:t>newline + ad hoc fields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EAF2F8"/>
                </a:solidFill>
              </a:rPr>
              <a:t>no CRC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EAF2F8"/>
                </a:solidFill>
              </a:rPr>
              <a:t>weak recovery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178040" y="1874520"/>
            <a:ext cx="4206240" cy="2788920"/>
          </a:xfrm>
          <a:prstGeom prst="rect">
            <a:avLst/>
          </a:prstGeom>
          <a:solidFill>
            <a:srgbClr val="173B31"/>
          </a:solidFill>
          <a:ln w="12700">
            <a:solidFill>
              <a:srgbClr val="6BE49B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AF2F8"/>
                </a:solidFill>
              </a:rPr>
              <a:t>Current style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EAF2F8"/>
                </a:solidFill>
              </a:rPr>
              <a:t>framed packet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EAF2F8"/>
                </a:solidFill>
              </a:rPr>
              <a:t>sequence ACK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EAF2F8"/>
                </a:solidFill>
              </a:rPr>
              <a:t>CRC checked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874520" y="4892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fragile stream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18120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E49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recoverable transaction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21240" y="64556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4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PDU protocol | 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6565392"/>
            <a:ext cx="2834640" cy="73152"/>
          </a:xfrm>
          <a:prstGeom prst="rect">
            <a:avLst/>
          </a:prstGeom>
          <a:solidFill>
            <a:srgbClr val="63D7FF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6928" y="219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D7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CURRENT PROTOCOL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frame gives every UART message a beginning, a size, and a checksum.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868680" cy="1051560"/>
          </a:xfrm>
          <a:prstGeom prst="rect">
            <a:avLst/>
          </a:prstGeom>
          <a:solidFill>
            <a:srgbClr val="173F50"/>
          </a:solidFill>
          <a:ln w="12700">
            <a:solidFill>
              <a:srgbClr val="63D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2F8"/>
                </a:solidFill>
              </a:rPr>
              <a:t>SOF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AF2F8"/>
                </a:solidFill>
              </a:rPr>
              <a:t>0xA5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783080" y="2240280"/>
            <a:ext cx="1051560" cy="1051560"/>
          </a:xfrm>
          <a:prstGeom prst="rect">
            <a:avLst/>
          </a:prstGeom>
          <a:solidFill>
            <a:srgbClr val="173F50"/>
          </a:solidFill>
          <a:ln w="12700">
            <a:solidFill>
              <a:srgbClr val="9EA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2F8"/>
                </a:solidFill>
              </a:rPr>
              <a:t>VERSION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AF2F8"/>
                </a:solidFill>
              </a:rPr>
              <a:t>0x02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971800" y="2240280"/>
            <a:ext cx="1005840" cy="1051560"/>
          </a:xfrm>
          <a:prstGeom prst="rect">
            <a:avLst/>
          </a:prstGeom>
          <a:solidFill>
            <a:srgbClr val="173F50"/>
          </a:solidFill>
          <a:ln w="12700">
            <a:solidFill>
              <a:srgbClr val="9EA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2F8"/>
                </a:solidFill>
              </a:rPr>
              <a:t>TYPE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AF2F8"/>
                </a:solidFill>
              </a:rPr>
              <a:t>request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0" y="2240280"/>
            <a:ext cx="1234440" cy="1051560"/>
          </a:xfrm>
          <a:prstGeom prst="rect">
            <a:avLst/>
          </a:prstGeom>
          <a:solidFill>
            <a:srgbClr val="173F50"/>
          </a:solidFill>
          <a:ln w="12700">
            <a:solidFill>
              <a:srgbClr val="F6B94A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2F8"/>
                </a:solidFill>
              </a:rPr>
              <a:t>OPCODE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AF2F8"/>
                </a:solidFill>
              </a:rPr>
              <a:t>what to do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04688" y="2240280"/>
            <a:ext cx="914400" cy="1051560"/>
          </a:xfrm>
          <a:prstGeom prst="rect">
            <a:avLst/>
          </a:prstGeom>
          <a:solidFill>
            <a:srgbClr val="173F50"/>
          </a:solidFill>
          <a:ln w="12700">
            <a:solidFill>
              <a:srgbClr val="6BE49B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2F8"/>
                </a:solidFill>
              </a:rPr>
              <a:t>SEQ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AF2F8"/>
                </a:solidFill>
              </a:rPr>
              <a:t>match reply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65392" y="2240280"/>
            <a:ext cx="960120" cy="1051560"/>
          </a:xfrm>
          <a:prstGeom prst="rect">
            <a:avLst/>
          </a:prstGeom>
          <a:solidFill>
            <a:srgbClr val="173F50"/>
          </a:solidFill>
          <a:ln w="12700">
            <a:solidFill>
              <a:srgbClr val="6BE49B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2F8"/>
                </a:solidFill>
              </a:rPr>
              <a:t>STATUS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AF2F8"/>
                </a:solidFill>
              </a:rPr>
              <a:t>result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662672" y="2240280"/>
            <a:ext cx="777240" cy="1051560"/>
          </a:xfrm>
          <a:prstGeom prst="rect">
            <a:avLst/>
          </a:prstGeom>
          <a:solidFill>
            <a:srgbClr val="173F50"/>
          </a:solidFill>
          <a:ln w="12700">
            <a:solidFill>
              <a:srgbClr val="63D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2F8"/>
                </a:solidFill>
              </a:rPr>
              <a:t>LEN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AF2F8"/>
                </a:solidFill>
              </a:rPr>
              <a:t>bytes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77072" y="2240280"/>
            <a:ext cx="1325880" cy="1051560"/>
          </a:xfrm>
          <a:prstGeom prst="rect">
            <a:avLst/>
          </a:prstGeom>
          <a:solidFill>
            <a:srgbClr val="173F50"/>
          </a:solidFill>
          <a:ln w="12700">
            <a:solidFill>
              <a:srgbClr val="EAF2F8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2F8"/>
                </a:solidFill>
              </a:rPr>
              <a:t>PAYLOAD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AF2F8"/>
                </a:solidFill>
              </a:rPr>
              <a:t>data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0" y="2240280"/>
            <a:ext cx="1097280" cy="1051560"/>
          </a:xfrm>
          <a:prstGeom prst="rect">
            <a:avLst/>
          </a:prstGeom>
          <a:solidFill>
            <a:srgbClr val="173F50"/>
          </a:solidFill>
          <a:ln w="12700">
            <a:solidFill>
              <a:srgbClr val="FF6B6B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2F8"/>
                </a:solidFill>
              </a:rPr>
              <a:t>CRC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AF2F8"/>
                </a:solidFill>
              </a:rPr>
              <a:t>detect error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" y="39776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93A9B7"/>
                </a:solidFill>
              </a:rPr>
              <a:t>SOF finds the frame. LEN bounds it. CRC decides whether it is trusted.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921240" y="64556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4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PDU protocol | 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6565392"/>
            <a:ext cx="2834640" cy="73152"/>
          </a:xfrm>
          <a:prstGeom prst="rect">
            <a:avLst/>
          </a:prstGeom>
          <a:solidFill>
            <a:srgbClr val="6BE49B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6928" y="219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D7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CORE MECHANISM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Every command is a request, validation step, hardware action, and measured response.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2011680" cy="914400"/>
          </a:xfrm>
          <a:prstGeom prst="rect">
            <a:avLst/>
          </a:prstGeom>
          <a:solidFill>
            <a:srgbClr val="143545"/>
          </a:solidFill>
          <a:ln w="12700">
            <a:solidFill>
              <a:srgbClr val="24586B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2F8"/>
                </a:solidFill>
              </a:rPr>
              <a:t>Host sends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2F8"/>
                </a:solidFill>
              </a:rPr>
              <a:t>request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88920" y="2788920"/>
            <a:ext cx="1143000" cy="0"/>
          </a:xfrm>
          <a:prstGeom prst="line">
            <a:avLst/>
          </a:prstGeom>
          <a:noFill/>
          <a:ln w="25400">
            <a:solidFill>
              <a:srgbClr val="6BE49B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069080" y="2057400"/>
            <a:ext cx="2240280" cy="1463040"/>
          </a:xfrm>
          <a:prstGeom prst="rect">
            <a:avLst/>
          </a:prstGeom>
          <a:solidFill>
            <a:srgbClr val="173F50"/>
          </a:solidFill>
          <a:ln w="12700">
            <a:solidFill>
              <a:srgbClr val="63D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2F8"/>
                </a:solidFill>
              </a:rPr>
              <a:t>PDU checks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AF2F8"/>
                </a:solidFill>
              </a:rPr>
              <a:t>length + params + CRC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55080" y="2788920"/>
            <a:ext cx="1143000" cy="0"/>
          </a:xfrm>
          <a:prstGeom prst="line">
            <a:avLst/>
          </a:prstGeom>
          <a:noFill/>
          <a:ln w="25400">
            <a:solidFill>
              <a:srgbClr val="6BE49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635240" y="2331720"/>
            <a:ext cx="1645920" cy="914400"/>
          </a:xfrm>
          <a:prstGeom prst="rect">
            <a:avLst/>
          </a:prstGeom>
          <a:solidFill>
            <a:srgbClr val="33411D"/>
          </a:solidFill>
          <a:ln w="12700">
            <a:solidFill>
              <a:srgbClr val="F6B94A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2F8"/>
                </a:solidFill>
              </a:rPr>
              <a:t>Touch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2F8"/>
                </a:solidFill>
              </a:rPr>
              <a:t>hardware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326880" y="2788920"/>
            <a:ext cx="1005840" cy="0"/>
          </a:xfrm>
          <a:prstGeom prst="line">
            <a:avLst/>
          </a:prstGeom>
          <a:noFill/>
          <a:ln w="25400">
            <a:solidFill>
              <a:srgbClr val="6BE49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0469880" y="2057400"/>
            <a:ext cx="1143000" cy="1463040"/>
          </a:xfrm>
          <a:prstGeom prst="rect">
            <a:avLst/>
          </a:prstGeom>
          <a:solidFill>
            <a:srgbClr val="173B31"/>
          </a:solidFill>
          <a:ln w="12700">
            <a:solidFill>
              <a:srgbClr val="6BE49B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2F8"/>
                </a:solidFill>
              </a:rPr>
              <a:t>Reply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AF2F8"/>
                </a:solidFill>
              </a:rPr>
              <a:t>state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3400" y="3822192"/>
            <a:ext cx="1280160" cy="329184"/>
          </a:xfrm>
          <a:prstGeom prst="rect">
            <a:avLst/>
          </a:prstGeom>
          <a:solidFill>
            <a:srgbClr val="F6B94A">
              <a:alpha val="95000"/>
            </a:srgbClr>
          </a:solidFill>
          <a:ln>
            <a:solidFill>
              <a:srgbClr val="F6B94A">
                <a:alpha val="9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before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2011680" y="43708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2F8"/>
                </a:solidFill>
              </a:rPr>
              <a:t>No hardware change happens until the packet is structurally valid.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921240" y="64556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4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PDU protocol | 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6565392"/>
            <a:ext cx="2834640" cy="73152"/>
          </a:xfrm>
          <a:prstGeom prst="rect">
            <a:avLst/>
          </a:prstGeom>
          <a:solidFill>
            <a:srgbClr val="F6B94A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6928" y="219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D7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CURRENT API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current API is intentionally small.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645920" cy="1783080"/>
          </a:xfrm>
          <a:prstGeom prst="rect">
            <a:avLst/>
          </a:prstGeom>
          <a:solidFill>
            <a:srgbClr val="173F50"/>
          </a:solidFill>
          <a:ln w="12700">
            <a:solidFill>
              <a:srgbClr val="63D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2F8"/>
                </a:solidFill>
              </a:rPr>
              <a:t>0x01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2F8"/>
                </a:solidFill>
              </a:rPr>
              <a:t>GET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2F8"/>
                </a:solidFill>
              </a:rPr>
              <a:t>PROTOCOL_INFO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136392" y="2057400"/>
            <a:ext cx="1645920" cy="1783080"/>
          </a:xfrm>
          <a:prstGeom prst="rect">
            <a:avLst/>
          </a:prstGeom>
          <a:solidFill>
            <a:srgbClr val="173F50"/>
          </a:solidFill>
          <a:ln w="12700">
            <a:solidFill>
              <a:srgbClr val="63D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2F8"/>
                </a:solidFill>
              </a:rPr>
              <a:t>0x02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2F8"/>
                </a:solidFill>
              </a:rPr>
              <a:t>GET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2F8"/>
                </a:solidFill>
              </a:rPr>
              <a:t>SUMMARY_STATUS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58384" y="2057400"/>
            <a:ext cx="1645920" cy="1783080"/>
          </a:xfrm>
          <a:prstGeom prst="rect">
            <a:avLst/>
          </a:prstGeom>
          <a:solidFill>
            <a:srgbClr val="173F50"/>
          </a:solidFill>
          <a:ln w="12700">
            <a:solidFill>
              <a:srgbClr val="63D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2F8"/>
                </a:solidFill>
              </a:rPr>
              <a:t>0x03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2F8"/>
                </a:solidFill>
              </a:rPr>
              <a:t>GET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2F8"/>
                </a:solidFill>
              </a:rPr>
              <a:t>RESET_INFO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80376" y="2057400"/>
            <a:ext cx="1645920" cy="1783080"/>
          </a:xfrm>
          <a:prstGeom prst="rect">
            <a:avLst/>
          </a:prstGeom>
          <a:solidFill>
            <a:srgbClr val="3B3520"/>
          </a:solidFill>
          <a:ln w="12700">
            <a:solidFill>
              <a:srgbClr val="F6B94A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2F8"/>
                </a:solidFill>
              </a:rPr>
              <a:t>0x10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2F8"/>
                </a:solidFill>
              </a:rPr>
              <a:t>GET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2F8"/>
                </a:solidFill>
              </a:rPr>
              <a:t>OUTPUT_STATE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802368" y="2057400"/>
            <a:ext cx="1645920" cy="1783080"/>
          </a:xfrm>
          <a:prstGeom prst="rect">
            <a:avLst/>
          </a:prstGeom>
          <a:solidFill>
            <a:srgbClr val="3B3520"/>
          </a:solidFill>
          <a:ln w="12700">
            <a:solidFill>
              <a:srgbClr val="F6B94A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2F8"/>
                </a:solidFill>
              </a:rPr>
              <a:t>0x11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2F8"/>
                </a:solidFill>
              </a:rPr>
              <a:t>SET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2F8"/>
                </a:solidFill>
              </a:rPr>
              <a:t>OUTPUT_STATE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47091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93A9B7"/>
                </a:solidFill>
              </a:rPr>
              <a:t>Small APIs are easier to test, easier to explain, and harder to misuse.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21240" y="64556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4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PDU protocol | 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6565392"/>
            <a:ext cx="2834640" cy="73152"/>
          </a:xfrm>
          <a:prstGeom prst="rect">
            <a:avLst/>
          </a:prstGeom>
          <a:solidFill>
            <a:srgbClr val="9EA7FF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6928" y="219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D7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ABSTRACTION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protocol exposes logical outputs, not raw pins.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3108960" cy="2331720"/>
          </a:xfrm>
          <a:prstGeom prst="rect">
            <a:avLst/>
          </a:prstGeom>
          <a:solidFill>
            <a:srgbClr val="1B2F4A"/>
          </a:solidFill>
          <a:ln w="12700">
            <a:solidFill>
              <a:srgbClr val="9EA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F2F8"/>
                </a:solidFill>
              </a:rPr>
              <a:t>Host says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AF2F8"/>
                </a:solidFill>
              </a:rPr>
              <a:t>PDU_OUTPUT_12V = 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069080" y="3063240"/>
            <a:ext cx="1234440" cy="0"/>
          </a:xfrm>
          <a:prstGeom prst="line">
            <a:avLst/>
          </a:prstGeom>
          <a:noFill/>
          <a:ln w="25400">
            <a:solidFill>
              <a:srgbClr val="9EA7FF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440680" y="1600200"/>
            <a:ext cx="2651760" cy="2971800"/>
          </a:xfrm>
          <a:prstGeom prst="rect">
            <a:avLst/>
          </a:prstGeom>
          <a:solidFill>
            <a:srgbClr val="173F50"/>
          </a:solidFill>
          <a:ln w="12700">
            <a:solidFill>
              <a:srgbClr val="63D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PDU decides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SW_5V_EN4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+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SW_12V_EN1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75320" y="3063240"/>
            <a:ext cx="1005840" cy="0"/>
          </a:xfrm>
          <a:prstGeom prst="line">
            <a:avLst/>
          </a:prstGeom>
          <a:noFill/>
          <a:ln w="25400">
            <a:solidFill>
              <a:srgbClr val="9EA7F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418320" y="1920240"/>
            <a:ext cx="1874520" cy="2331720"/>
          </a:xfrm>
          <a:prstGeom prst="rect">
            <a:avLst/>
          </a:prstGeom>
          <a:solidFill>
            <a:srgbClr val="182E24"/>
          </a:solidFill>
          <a:ln w="12700">
            <a:solidFill>
              <a:srgbClr val="6BE49B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Telemetry says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12V logical state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21240" y="64556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4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PDU protocol | 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6565392"/>
            <a:ext cx="2834640" cy="73152"/>
          </a:xfrm>
          <a:prstGeom prst="rect">
            <a:avLst/>
          </a:prstGeom>
          <a:solidFill>
            <a:srgbClr val="6BE49B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6928" y="219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D7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SOH TELEMETRY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summary packet gives the demo a credible health story.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1874520" cy="1005840"/>
          </a:xfrm>
          <a:prstGeom prst="rect">
            <a:avLst/>
          </a:prstGeom>
          <a:solidFill>
            <a:srgbClr val="173B31"/>
          </a:solidFill>
          <a:ln w="12700">
            <a:solidFill>
              <a:srgbClr val="6BE49B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output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bitmap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880360" y="1920240"/>
            <a:ext cx="1874520" cy="1005840"/>
          </a:xfrm>
          <a:prstGeom prst="rect">
            <a:avLst/>
          </a:prstGeom>
          <a:solidFill>
            <a:srgbClr val="173F50"/>
          </a:solidFill>
          <a:ln w="12700">
            <a:solidFill>
              <a:srgbClr val="63D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reset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cause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983480" y="1920240"/>
            <a:ext cx="1874520" cy="1005840"/>
          </a:xfrm>
          <a:prstGeom prst="rect">
            <a:avLst/>
          </a:prstGeom>
          <a:solidFill>
            <a:srgbClr val="3A1C22"/>
          </a:solidFill>
          <a:ln w="12700">
            <a:solidFill>
              <a:srgbClr val="FF6B6B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fault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bitmap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086600" y="1920240"/>
            <a:ext cx="1874520" cy="1005840"/>
          </a:xfrm>
          <a:prstGeom prst="rect">
            <a:avLst/>
          </a:prstGeom>
          <a:solidFill>
            <a:srgbClr val="3B3520"/>
          </a:solidFill>
          <a:ln w="12700">
            <a:solidFill>
              <a:srgbClr val="F6B94A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uptime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seconds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89720" y="1920240"/>
            <a:ext cx="1874520" cy="1005840"/>
          </a:xfrm>
          <a:prstGeom prst="rect">
            <a:avLst/>
          </a:prstGeom>
          <a:solidFill>
            <a:srgbClr val="1B2F4A"/>
          </a:solidFill>
          <a:ln w="12700">
            <a:solidFill>
              <a:srgbClr val="9EA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capability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bits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51760" y="4251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E49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GET_SUMMARY_STATUS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94360" y="48920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93A9B7"/>
                </a:solidFill>
              </a:rPr>
              <a:t>This is the packet that feeds judge-visible SOH without overbuilding EPS services.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21240" y="64556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4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PDU protocol | 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6565392"/>
            <a:ext cx="2834640" cy="73152"/>
          </a:xfrm>
          <a:prstGeom prst="rect">
            <a:avLst/>
          </a:prstGeom>
          <a:solidFill>
            <a:srgbClr val="63D7FF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6928" y="219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D7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 WHY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We test the protocol because the parser is part of the safety system.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691640" cy="1143000"/>
          </a:xfrm>
          <a:prstGeom prst="rect">
            <a:avLst/>
          </a:prstGeom>
          <a:solidFill>
            <a:srgbClr val="123545"/>
          </a:solidFill>
          <a:ln w="12700">
            <a:solidFill>
              <a:srgbClr val="63D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2F8"/>
                </a:solidFill>
              </a:rPr>
              <a:t>bad CRC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F2F8"/>
                </a:solidFill>
              </a:rPr>
              <a:t>ignored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63240" y="2240280"/>
            <a:ext cx="1691640" cy="1143000"/>
          </a:xfrm>
          <a:prstGeom prst="rect">
            <a:avLst/>
          </a:prstGeom>
          <a:solidFill>
            <a:srgbClr val="123545"/>
          </a:solidFill>
          <a:ln w="12700">
            <a:solidFill>
              <a:srgbClr val="63D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2F8"/>
                </a:solidFill>
              </a:rPr>
              <a:t>bad length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F2F8"/>
                </a:solidFill>
              </a:rPr>
              <a:t>BAD_LENGTH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0" y="2240280"/>
            <a:ext cx="1691640" cy="1143000"/>
          </a:xfrm>
          <a:prstGeom prst="rect">
            <a:avLst/>
          </a:prstGeom>
          <a:solidFill>
            <a:srgbClr val="123545"/>
          </a:solidFill>
          <a:ln w="12700">
            <a:solidFill>
              <a:srgbClr val="63D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2F8"/>
                </a:solidFill>
              </a:rPr>
              <a:t>bad ID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F2F8"/>
                </a:solidFill>
              </a:rPr>
              <a:t>BAD_PARAM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43800" y="2240280"/>
            <a:ext cx="1691640" cy="1143000"/>
          </a:xfrm>
          <a:prstGeom prst="rect">
            <a:avLst/>
          </a:prstGeom>
          <a:solidFill>
            <a:srgbClr val="123545"/>
          </a:solidFill>
          <a:ln w="12700">
            <a:solidFill>
              <a:srgbClr val="63D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2F8"/>
                </a:solidFill>
              </a:rPr>
              <a:t>bad opcode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F2F8"/>
                </a:solidFill>
              </a:rPr>
              <a:t>BAD_OPCODE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0" y="2240280"/>
            <a:ext cx="1691640" cy="1143000"/>
          </a:xfrm>
          <a:prstGeom prst="rect">
            <a:avLst/>
          </a:prstGeom>
          <a:solidFill>
            <a:srgbClr val="173B31"/>
          </a:solidFill>
          <a:ln w="12700">
            <a:solidFill>
              <a:srgbClr val="6BE49B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2F8"/>
                </a:solidFill>
              </a:rPr>
              <a:t>good command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F2F8"/>
                </a:solidFill>
              </a:rPr>
              <a:t>state reply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44348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93A9B7"/>
                </a:solidFill>
              </a:rPr>
              <a:t>The test question is simple: can malformed input ever touch hardware?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21240" y="64556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4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PDU protocol | 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6565392"/>
            <a:ext cx="2834640" cy="73152"/>
          </a:xfrm>
          <a:prstGeom prst="rect">
            <a:avLst/>
          </a:prstGeom>
          <a:solidFill>
            <a:srgbClr val="F6B94A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6928" y="219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D7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 PLAN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Testing should climb from pure bytes to real rails.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663440"/>
            <a:ext cx="2743200" cy="685800"/>
          </a:xfrm>
          <a:prstGeom prst="rect">
            <a:avLst/>
          </a:prstGeom>
          <a:solidFill>
            <a:srgbClr val="143545"/>
          </a:solidFill>
          <a:ln w="12700">
            <a:solidFill>
              <a:srgbClr val="63D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2F8"/>
                </a:solidFill>
              </a:rPr>
              <a:t>1. parser byte tests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977640" y="3657600"/>
            <a:ext cx="2743200" cy="822960"/>
          </a:xfrm>
          <a:prstGeom prst="rect">
            <a:avLst/>
          </a:prstGeom>
          <a:solidFill>
            <a:srgbClr val="173F50"/>
          </a:solidFill>
          <a:ln w="12700">
            <a:solidFill>
              <a:srgbClr val="6BE49B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2F8"/>
                </a:solidFill>
              </a:rPr>
              <a:t>2. handler contract tests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40880" y="2651760"/>
            <a:ext cx="2743200" cy="960120"/>
          </a:xfrm>
          <a:prstGeom prst="rect">
            <a:avLst/>
          </a:prstGeom>
          <a:solidFill>
            <a:srgbClr val="3B3520"/>
          </a:solidFill>
          <a:ln w="12700">
            <a:solidFill>
              <a:srgbClr val="F6B94A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2F8"/>
                </a:solidFill>
              </a:rPr>
              <a:t>3. bench UART tests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40680" y="1481328"/>
            <a:ext cx="3291840" cy="960120"/>
          </a:xfrm>
          <a:prstGeom prst="rect">
            <a:avLst/>
          </a:prstGeom>
          <a:solidFill>
            <a:srgbClr val="3A1C22"/>
          </a:solidFill>
          <a:ln w="12700">
            <a:solidFill>
              <a:srgbClr val="FF6B6B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2F8"/>
                </a:solidFill>
              </a:rPr>
              <a:t>4. FlatSat rail readback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286000" y="4572000"/>
            <a:ext cx="2880360" cy="-320040"/>
          </a:xfrm>
          <a:prstGeom prst="line">
            <a:avLst/>
          </a:prstGeom>
          <a:noFill/>
          <a:ln w="19050">
            <a:solidFill>
              <a:srgbClr val="63D7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0" y="3611880"/>
            <a:ext cx="2560320" cy="-137160"/>
          </a:xfrm>
          <a:prstGeom prst="line">
            <a:avLst/>
          </a:prstGeom>
          <a:noFill/>
          <a:ln w="19050">
            <a:solidFill>
              <a:srgbClr val="6BE49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138160" y="2560320"/>
            <a:ext cx="-1051560" cy="-365760"/>
          </a:xfrm>
          <a:prstGeom prst="line">
            <a:avLst/>
          </a:prstGeom>
          <a:noFill/>
          <a:ln w="19050">
            <a:solidFill>
              <a:srgbClr val="F6B94A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921240" y="64556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4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PDU protocol | 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6565392"/>
            <a:ext cx="2834640" cy="73152"/>
          </a:xfrm>
          <a:prstGeom prst="rect">
            <a:avLst/>
          </a:prstGeom>
          <a:solidFill>
            <a:srgbClr val="9EA7FF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6928" y="219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D7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 EXAMPLES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first host-side tests should be boring and repeatable.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2926080" cy="2286000"/>
          </a:xfrm>
          <a:prstGeom prst="rect">
            <a:avLst/>
          </a:prstGeom>
          <a:solidFill>
            <a:srgbClr val="3A1C22"/>
          </a:solidFill>
          <a:ln w="12700">
            <a:solidFill>
              <a:srgbClr val="FF6B6B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Build frame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flip one CRC byte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expect silence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617720" y="1828800"/>
            <a:ext cx="2926080" cy="2286000"/>
          </a:xfrm>
          <a:prstGeom prst="rect">
            <a:avLst/>
          </a:prstGeom>
          <a:solidFill>
            <a:srgbClr val="173B31"/>
          </a:solidFill>
          <a:ln w="12700">
            <a:solidFill>
              <a:srgbClr val="6BE49B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Send SET_OUTPUT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read back state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verify seq echo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366760" y="1828800"/>
            <a:ext cx="2926080" cy="2286000"/>
          </a:xfrm>
          <a:prstGeom prst="rect">
            <a:avLst/>
          </a:prstGeom>
          <a:solidFill>
            <a:srgbClr val="1B2F4A"/>
          </a:solidFill>
          <a:ln w="12700">
            <a:solidFill>
              <a:srgbClr val="9EA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Power cycle PDU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GET_RESET_INFO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show SOH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921240" y="64556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4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PDU protocol |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6565392"/>
            <a:ext cx="2834640" cy="73152"/>
          </a:xfrm>
          <a:prstGeom prst="rect">
            <a:avLst/>
          </a:prstGeom>
          <a:solidFill>
            <a:srgbClr val="6BE49B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6928" y="219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D7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FUTURE PROTOCOL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future protocol should keep the frame and generalize the objects.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2286000" cy="1005840"/>
          </a:xfrm>
          <a:prstGeom prst="rect">
            <a:avLst/>
          </a:prstGeom>
          <a:solidFill>
            <a:srgbClr val="173B31"/>
          </a:solidFill>
          <a:ln w="12700">
            <a:solidFill>
              <a:srgbClr val="6BE49B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AF2F8"/>
                </a:solidFill>
              </a:rPr>
              <a:t>same frame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46120" y="2423160"/>
            <a:ext cx="914400" cy="0"/>
          </a:xfrm>
          <a:prstGeom prst="line">
            <a:avLst/>
          </a:prstGeom>
          <a:noFill/>
          <a:ln w="25400">
            <a:solidFill>
              <a:srgbClr val="6BE49B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297680" y="1325880"/>
            <a:ext cx="2743200" cy="2194560"/>
          </a:xfrm>
          <a:prstGeom prst="rect">
            <a:avLst/>
          </a:prstGeom>
          <a:solidFill>
            <a:srgbClr val="173F50"/>
          </a:solidFill>
          <a:ln w="12700">
            <a:solidFill>
              <a:srgbClr val="63D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objects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outputs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sensors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faults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supervisors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78040" y="2423160"/>
            <a:ext cx="868680" cy="0"/>
          </a:xfrm>
          <a:prstGeom prst="line">
            <a:avLst/>
          </a:prstGeom>
          <a:noFill/>
          <a:ln w="25400">
            <a:solidFill>
              <a:srgbClr val="6BE49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183880" y="1920240"/>
            <a:ext cx="3063240" cy="1005840"/>
          </a:xfrm>
          <a:prstGeom prst="rect">
            <a:avLst/>
          </a:prstGeom>
          <a:solidFill>
            <a:srgbClr val="1B2F4A"/>
          </a:solidFill>
          <a:ln w="12700">
            <a:solidFill>
              <a:srgbClr val="9EA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2F8"/>
                </a:solidFill>
              </a:rPr>
              <a:t>capabilities say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AF2F8"/>
                </a:solidFill>
              </a:rPr>
              <a:t>what exists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46634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93A9B7"/>
                </a:solidFill>
              </a:rPr>
              <a:t>Do not break the transport to add missions. Add discoverable objects above it.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21240" y="64556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4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PDU protocol |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6565392"/>
            <a:ext cx="2834640" cy="73152"/>
          </a:xfrm>
          <a:prstGeom prst="rect">
            <a:avLst/>
          </a:prstGeom>
          <a:solidFill>
            <a:srgbClr val="63D7FF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6928" y="219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D7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FUTURE TELEMETRY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Future SOH should add richer telemetry without making commands unsafe.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2240280" cy="1874520"/>
          </a:xfrm>
          <a:prstGeom prst="rect">
            <a:avLst/>
          </a:prstGeom>
          <a:solidFill>
            <a:srgbClr val="173F50"/>
          </a:solidFill>
          <a:ln w="12700">
            <a:solidFill>
              <a:srgbClr val="63D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2F8"/>
                </a:solidFill>
              </a:rPr>
              <a:t>outputs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2F8"/>
                </a:solidFill>
              </a:rPr>
              <a:t>enable + sensed state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11880" y="2011680"/>
            <a:ext cx="2240280" cy="1874520"/>
          </a:xfrm>
          <a:prstGeom prst="rect">
            <a:avLst/>
          </a:prstGeom>
          <a:solidFill>
            <a:srgbClr val="143545"/>
          </a:solidFill>
          <a:ln w="12700">
            <a:solidFill>
              <a:srgbClr val="63D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2F8"/>
                </a:solidFill>
              </a:rPr>
              <a:t>sensors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2F8"/>
                </a:solidFill>
              </a:rPr>
              <a:t>voltage + current + temp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0" y="2011680"/>
            <a:ext cx="2240280" cy="1874520"/>
          </a:xfrm>
          <a:prstGeom prst="rect">
            <a:avLst/>
          </a:prstGeom>
          <a:solidFill>
            <a:srgbClr val="173F50"/>
          </a:solidFill>
          <a:ln w="12700">
            <a:solidFill>
              <a:srgbClr val="63D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2F8"/>
                </a:solidFill>
              </a:rPr>
              <a:t>faults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2F8"/>
                </a:solidFill>
              </a:rPr>
              <a:t>latched + active bits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89720" y="2011680"/>
            <a:ext cx="2240280" cy="1874520"/>
          </a:xfrm>
          <a:prstGeom prst="rect">
            <a:avLst/>
          </a:prstGeom>
          <a:solidFill>
            <a:srgbClr val="143545"/>
          </a:solidFill>
          <a:ln w="12700">
            <a:solidFill>
              <a:srgbClr val="F6B94A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2F8"/>
                </a:solidFill>
              </a:rPr>
              <a:t>events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2F8"/>
                </a:solidFill>
              </a:rPr>
              <a:t>boot + fault + state change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470916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93A9B7"/>
                </a:solidFill>
              </a:rPr>
              <a:t>The rule stays the same: commands request intent; the PDU owns safety decisions.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21240" y="64556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4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PDU protocol | 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6565392"/>
            <a:ext cx="2834640" cy="73152"/>
          </a:xfrm>
          <a:prstGeom prst="rect">
            <a:avLst/>
          </a:prstGeom>
          <a:solidFill>
            <a:srgbClr val="F6B94A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6928" y="219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D7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Freeze the base frame, then add capability-discovered features.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2331720" cy="1325880"/>
          </a:xfrm>
          <a:prstGeom prst="rect">
            <a:avLst/>
          </a:prstGeom>
          <a:solidFill>
            <a:srgbClr val="173B31"/>
          </a:solidFill>
          <a:ln w="12700">
            <a:solidFill>
              <a:srgbClr val="6BE49B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now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outputs + summary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337560" y="2487168"/>
            <a:ext cx="868680" cy="0"/>
          </a:xfrm>
          <a:prstGeom prst="line">
            <a:avLst/>
          </a:prstGeom>
          <a:noFill/>
          <a:ln w="25400">
            <a:solidFill>
              <a:srgbClr val="F6B94A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343400" y="1828800"/>
            <a:ext cx="2331720" cy="1325880"/>
          </a:xfrm>
          <a:prstGeom prst="rect">
            <a:avLst/>
          </a:prstGeom>
          <a:solidFill>
            <a:srgbClr val="3B3520"/>
          </a:solidFill>
          <a:ln w="12700">
            <a:solidFill>
              <a:srgbClr val="F6B94A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next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AF2F8"/>
                </a:solidFill>
              </a:rPr>
              <a:t>faults + events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12280" y="2487168"/>
            <a:ext cx="868680" cy="0"/>
          </a:xfrm>
          <a:prstGeom prst="line">
            <a:avLst/>
          </a:prstGeom>
          <a:noFill/>
          <a:ln w="25400">
            <a:solidFill>
              <a:srgbClr val="F6B94A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818120" y="1828800"/>
            <a:ext cx="2697480" cy="1325880"/>
          </a:xfrm>
          <a:prstGeom prst="rect">
            <a:avLst/>
          </a:prstGeom>
          <a:solidFill>
            <a:srgbClr val="1B2F4A"/>
          </a:solidFill>
          <a:ln w="12700">
            <a:solidFill>
              <a:srgbClr val="9EA7FF">
                <a:alpha val="8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later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2F8"/>
                </a:solidFill>
              </a:rPr>
              <a:t>chargers + Pi supervisor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23160" y="4572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AF2F8"/>
                </a:solidFill>
              </a:rPr>
              <a:t>stable transport, evolving payloads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9921240" y="64556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4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PDU protocol | 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6565392"/>
            <a:ext cx="2834640" cy="73152"/>
          </a:xfrm>
          <a:prstGeom prst="rect">
            <a:avLst/>
          </a:prstGeom>
          <a:solidFill>
            <a:srgbClr val="6BE49B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6928" y="219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D7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CLOSING 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EAF2F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win is not a bigger protocol. The win is a protocol we can trust.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27432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93A9B7"/>
                </a:solidFill>
              </a:rPr>
              <a:t>Current: robust output control + SOH. Future: discoverable EPS objects on the same safe frame.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148840" y="4297680"/>
            <a:ext cx="1280160" cy="329184"/>
          </a:xfrm>
          <a:prstGeom prst="rect">
            <a:avLst/>
          </a:prstGeom>
          <a:solidFill>
            <a:srgbClr val="6BE49B">
              <a:alpha val="95000"/>
            </a:srgbClr>
          </a:solidFill>
          <a:ln>
            <a:solidFill>
              <a:srgbClr val="6BE49B">
                <a:alpha val="9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3703320" y="4297680"/>
            <a:ext cx="1280160" cy="329184"/>
          </a:xfrm>
          <a:prstGeom prst="rect">
            <a:avLst/>
          </a:prstGeom>
          <a:solidFill>
            <a:srgbClr val="63D7FF">
              <a:alpha val="95000"/>
            </a:srgbClr>
          </a:solidFill>
          <a:ln>
            <a:solidFill>
              <a:srgbClr val="63D7FF">
                <a:alpha val="9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observe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5257800" y="4297680"/>
            <a:ext cx="1280160" cy="329184"/>
          </a:xfrm>
          <a:prstGeom prst="rect">
            <a:avLst/>
          </a:prstGeom>
          <a:solidFill>
            <a:srgbClr val="F6B94A">
              <a:alpha val="95000"/>
            </a:srgbClr>
          </a:solidFill>
          <a:ln>
            <a:solidFill>
              <a:srgbClr val="F6B94A">
                <a:alpha val="9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ack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6812280" y="4297680"/>
            <a:ext cx="1280160" cy="329184"/>
          </a:xfrm>
          <a:prstGeom prst="rect">
            <a:avLst/>
          </a:prstGeom>
          <a:solidFill>
            <a:srgbClr val="FF6B6B">
              <a:alpha val="95000"/>
            </a:srgbClr>
          </a:solidFill>
          <a:ln>
            <a:solidFill>
              <a:srgbClr val="FF6B6B">
                <a:alpha val="9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reject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8366760" y="4297680"/>
            <a:ext cx="1280160" cy="329184"/>
          </a:xfrm>
          <a:prstGeom prst="rect">
            <a:avLst/>
          </a:prstGeom>
          <a:solidFill>
            <a:srgbClr val="9EA7FF">
              <a:alpha val="95000"/>
            </a:srgbClr>
          </a:solidFill>
          <a:ln>
            <a:solidFill>
              <a:srgbClr val="9EA7FF">
                <a:alpha val="9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evolve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9921240" y="64556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4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PDU protocol | 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Hawaii Space Flight Laboratory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PDU Protocol Explainer</dc:title>
  <dc:subject>PDU protocol current design and future direction</dc:subject>
  <dc:creator>Artemis PDU Firmware Team</dc:creator>
  <cp:lastModifiedBy>Artemis PDU Firmware Team</cp:lastModifiedBy>
  <cp:revision>1</cp:revision>
  <dcterms:created xsi:type="dcterms:W3CDTF">2026-04-23T02:05:42Z</dcterms:created>
  <dcterms:modified xsi:type="dcterms:W3CDTF">2026-04-23T02:05:42Z</dcterms:modified>
</cp:coreProperties>
</file>